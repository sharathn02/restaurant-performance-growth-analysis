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Plus Jakarta Sa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593D1F-1408-4A3E-9DD4-E806F91AFFD9}">
  <a:tblStyle styleId="{08593D1F-1408-4A3E-9DD4-E806F91AFF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SemiBold-regular.fntdata"/><Relationship Id="rId11" Type="http://schemas.openxmlformats.org/officeDocument/2006/relationships/slide" Target="slides/slide5.xml"/><Relationship Id="rId22" Type="http://schemas.openxmlformats.org/officeDocument/2006/relationships/font" Target="fonts/PlusJakartaSansSemiBold-italic.fntdata"/><Relationship Id="rId10" Type="http://schemas.openxmlformats.org/officeDocument/2006/relationships/slide" Target="slides/slide4.xml"/><Relationship Id="rId21" Type="http://schemas.openxmlformats.org/officeDocument/2006/relationships/font" Target="fonts/PlusJakartaSansSemiBold-bold.fntdata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23" Type="http://schemas.openxmlformats.org/officeDocument/2006/relationships/font" Target="fonts/PlusJakarta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-1203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662" y="2227957"/>
            <a:ext cx="31146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694682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Unlocking </a:t>
            </a:r>
            <a:r>
              <a:rPr b="1" i="0" lang="en-US" sz="420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Zomato's</a:t>
            </a: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4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Growth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395925"/>
            <a:ext cx="762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Data-driven recommendations to optimize restaurant networks, enhance customer experiences, and maximize platform value.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1293"/>
            <a:ext cx="533400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31293"/>
            <a:ext cx="533400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7768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664493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Focus on Reducing High Unrated Restaurants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188368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Around 22.5% of restaurants are unrated, creating a major barrier to customer discovery and platform trust.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04900" y="3026568"/>
            <a:ext cx="4730591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Recommendations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67525" y="3026568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Expected Business Impact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50381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95375" y="3407568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Launch gamified review campaigns encouraging immediate ratings post-order.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95375" y="3950493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 direct incentives for restaurants to maintain consistent service quality.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95375" y="4493418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Prioritize unrated venues in targeted customer review loops.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95375" y="4822031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 a minimum review threshold for enhanced visibility rankings.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05038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810375" y="3407568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Enhanced Trust: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Build strong customer confidence via transparent scoring.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10375" y="3950493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Better Discovery: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Surface hidden high-potential venues efficiently.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10375" y="4493418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Stronger Conversion: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Drive higher order intent from explored listings.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66775" y="338851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6775" y="3931443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66775" y="447436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6775" y="4802981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81775" y="338851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81775" y="3931443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81775" y="447436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2737"/>
            <a:ext cx="5334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52737"/>
            <a:ext cx="5334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19212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1785937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 &amp; 3. Scale Online Delivery &amp; Table Bookings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23098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Leveraging online adoption and capitalizing on the surging "going-out" segment (FY25 NOV up 156% YoY).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200150" y="3148012"/>
            <a:ext cx="463057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Online Delivery Growth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35290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Online-enabled restaurants show higher average ratings (3.59) vs. offline-only (3.41).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848475" y="3148012"/>
            <a:ext cx="47005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Table Booking Expansion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81775" y="35290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Only 12.14% have table bookings; lower ratings (3.38 vs 3.47) signal experience gaps.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1718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095375" y="4043362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Offer onboarding discounts &amp; promotional support for new activations.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095375" y="4586287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Boost search visibility for online-enabled vendors.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95375" y="4914900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Optimize menus, delivery logistics, and secure packaging.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17182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6810375" y="4043362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Introduce off-peak booking discounts and smart deals.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810375" y="4371975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Monitor post-dining ratings specifically for reserved tables.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810375" y="4700587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Collaborate on improving table management and service speed.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66775" y="4024312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66775" y="4567237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66775" y="4895850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581775" y="4024312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581775" y="4352925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81775" y="4681537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1293"/>
            <a:ext cx="533400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31293"/>
            <a:ext cx="533400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7768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71500" y="1664493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&amp; 5. Premium Focus &amp; India Market Priority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71500" y="2188368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Targeting high-value segments and channeling primary investments into core high-potential Indian hubs.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152525" y="3026568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Premium Segment Play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867525" y="3026568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India First Strategy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5038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095375" y="3407568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Curate exclusive high-end restaurant collections.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95375" y="3736181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 high-value consumers with bespoke dining rewards.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95375" y="4064793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personalized recommendation models based on spending behaviors.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95375" y="4607718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Higher Average Order Value (AOV) &amp; Customer Lifetime Value (LTV).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05038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6810375" y="3407568"/>
            <a:ext cx="4514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Concentrate capital in high-density Indian urban clusters.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810375" y="3736181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 cities displaying large restaurant density with lower base ratings.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810375" y="4279106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Scale cross-selling across delivery, dining, and event ecosystems (800+ cities).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810375" y="4822031"/>
            <a:ext cx="4514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Massive expansion aligning with ₹32,862 cr FY25 delivery scale.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66775" y="338851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66775" y="3717131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66775" y="4045743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66775" y="458866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581775" y="338851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581775" y="3717131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581775" y="4260056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581775" y="4802981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48000"/>
            <a:ext cx="110490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1447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571500" y="1981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Restaurant Improvement Program &amp; Priorities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71500" y="25050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Addressing regional rating gaps (Faridabad, Noida, New Delhi) to elevate total ecosystem standards.</a:t>
            </a:r>
            <a:endParaRPr/>
          </a:p>
        </p:txBody>
      </p:sp>
      <p:graphicFrame>
        <p:nvGraphicFramePr>
          <p:cNvPr id="183" name="Google Shape;183;p17"/>
          <p:cNvGraphicFramePr/>
          <p:nvPr/>
        </p:nvGraphicFramePr>
        <p:xfrm>
          <a:off x="581025" y="3057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{08593D1F-1408-4A3E-9DD4-E806F91AFFD9}</a:tableStyleId>
              </a:tblPr>
              <a:tblGrid>
                <a:gridCol w="1123050"/>
                <a:gridCol w="4619625"/>
                <a:gridCol w="5287275"/>
              </a:tblGrid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Priority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Strategic Business 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Expected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Reduce 22.5% unrated restaurant backlog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Better trust &amp; conversion rates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Drive online-delivery onboarding and optimization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More orders &amp; higher user engagement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Expand table-booking capabilities &amp; dining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Accelerate high-growth "going-out" 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Establish targeted restaurant quality improvement plans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Elevate overall platform ratings without pure acquisition reliance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17"/>
          <p:cNvSpPr/>
          <p:nvPr/>
        </p:nvSpPr>
        <p:spPr>
          <a:xfrm>
            <a:off x="581025" y="3500437"/>
            <a:ext cx="1123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1704082" y="3500437"/>
            <a:ext cx="4619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323707" y="3500437"/>
            <a:ext cx="5287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81025" y="3957637"/>
            <a:ext cx="1123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1704082" y="3957637"/>
            <a:ext cx="4619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323707" y="3957637"/>
            <a:ext cx="5287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581025" y="4414837"/>
            <a:ext cx="1123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1704082" y="4414837"/>
            <a:ext cx="4619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323707" y="4414837"/>
            <a:ext cx="5287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581025" y="4872037"/>
            <a:ext cx="1123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1704082" y="4872037"/>
            <a:ext cx="4619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6323707" y="4872037"/>
            <a:ext cx="5287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38550"/>
            <a:ext cx="4476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095750"/>
            <a:ext cx="4476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552950"/>
            <a:ext cx="4476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010150"/>
            <a:ext cx="6286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